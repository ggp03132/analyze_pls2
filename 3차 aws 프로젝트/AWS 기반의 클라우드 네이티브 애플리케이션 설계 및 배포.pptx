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294" r:id="rId4"/>
    <p:sldId id="344" r:id="rId5"/>
    <p:sldId id="295" r:id="rId6"/>
    <p:sldId id="337" r:id="rId7"/>
    <p:sldId id="338" r:id="rId8"/>
    <p:sldId id="339" r:id="rId9"/>
    <p:sldId id="340" r:id="rId10"/>
    <p:sldId id="335" r:id="rId11"/>
    <p:sldId id="30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70" d="100"/>
          <a:sy n="70" d="100"/>
        </p:scale>
        <p:origin x="72" y="1050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C0D4F4-D202-4046-AC90-B9F2B28A3ACB}" type="doc">
      <dgm:prSet loTypeId="urn:microsoft.com/office/officeart/2009/layout/CircleArrow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pPr latinLnBrk="1"/>
          <a:endParaRPr lang="ko-KR" altLang="en-US"/>
        </a:p>
      </dgm:t>
    </dgm:pt>
    <dgm:pt modelId="{FCE2B9B3-5839-4633-9DDC-3F88FD05EB1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문단과 질의간</a:t>
          </a:r>
          <a:endParaRPr lang="en-US" altLang="ko-KR" sz="1400" dirty="0"/>
        </a:p>
        <a:p>
          <a:pPr latinLnBrk="1"/>
          <a:r>
            <a:rPr lang="ko-KR" altLang="en-US" sz="1400" dirty="0"/>
            <a:t> 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모델 학습</a:t>
          </a:r>
          <a:r>
            <a:rPr lang="en-US" altLang="ko-KR" sz="1400" dirty="0"/>
            <a:t>)</a:t>
          </a:r>
        </a:p>
      </dgm:t>
    </dgm:pt>
    <dgm:pt modelId="{3352EDB2-1A05-40DB-B30C-CC98DE54BD66}" type="par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F46956F1-8138-4CFE-8639-198587CC3422}" type="sibTrans" cxnId="{C43DB9C8-C4BC-40EA-B856-FDF33A96E9EE}">
      <dgm:prSet/>
      <dgm:spPr/>
      <dgm:t>
        <a:bodyPr/>
        <a:lstStyle/>
        <a:p>
          <a:pPr latinLnBrk="1"/>
          <a:endParaRPr lang="ko-KR" altLang="en-US"/>
        </a:p>
      </dgm:t>
    </dgm:pt>
    <dgm:pt modelId="{36707158-2A7F-4470-8614-D2441D89B8CC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신규 질문 입력</a:t>
          </a:r>
        </a:p>
      </dgm:t>
    </dgm:pt>
    <dgm:pt modelId="{4EFA4F70-896C-4CA5-A09B-466B6E504898}" type="par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1A5F8D8-3FE3-4D01-8378-915C11054DA2}" type="sibTrans" cxnId="{96906AC7-7F8B-468C-9BD7-C3DABE97B889}">
      <dgm:prSet/>
      <dgm:spPr/>
      <dgm:t>
        <a:bodyPr/>
        <a:lstStyle/>
        <a:p>
          <a:pPr latinLnBrk="1"/>
          <a:endParaRPr lang="ko-KR" altLang="en-US"/>
        </a:p>
      </dgm:t>
    </dgm:pt>
    <dgm:pt modelId="{95092794-8EB8-4866-8BC4-19AB699FD825}">
      <dgm:prSet phldrT="[텍스트]" custT="1"/>
      <dgm:spPr/>
      <dgm:t>
        <a:bodyPr/>
        <a:lstStyle/>
        <a:p>
          <a:pPr latinLnBrk="1"/>
          <a:r>
            <a:rPr lang="ko-KR" altLang="en-US" sz="1400" dirty="0"/>
            <a:t>유사도 측정</a:t>
          </a:r>
          <a:endParaRPr lang="en-US" altLang="ko-KR" sz="1400" dirty="0"/>
        </a:p>
        <a:p>
          <a:pPr latinLnBrk="1"/>
          <a:r>
            <a:rPr lang="en-US" altLang="ko-KR" sz="1400" dirty="0"/>
            <a:t>(</a:t>
          </a:r>
          <a:r>
            <a:rPr lang="ko-KR" altLang="en-US" sz="1400" dirty="0"/>
            <a:t>해당 문단 제시</a:t>
          </a:r>
          <a:r>
            <a:rPr lang="en-US" altLang="ko-KR" sz="1400" dirty="0"/>
            <a:t>)</a:t>
          </a:r>
          <a:endParaRPr lang="ko-KR" altLang="en-US" sz="1400" dirty="0"/>
        </a:p>
      </dgm:t>
    </dgm:pt>
    <dgm:pt modelId="{EFEF8832-0B33-43B0-A1C7-D1A8062E965F}" type="par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99B373BD-ED5E-4E00-B551-F4E545897374}" type="sibTrans" cxnId="{5B9A1BD0-C5F3-4E28-98BA-4E08BB81764E}">
      <dgm:prSet/>
      <dgm:spPr/>
      <dgm:t>
        <a:bodyPr/>
        <a:lstStyle/>
        <a:p>
          <a:pPr latinLnBrk="1"/>
          <a:endParaRPr lang="ko-KR" altLang="en-US"/>
        </a:p>
      </dgm:t>
    </dgm:pt>
    <dgm:pt modelId="{C4CC960A-5D7A-4DB8-8237-ABDAA6AF78B8}" type="pres">
      <dgm:prSet presAssocID="{40C0D4F4-D202-4046-AC90-B9F2B28A3ACB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FDA340C9-AC86-4436-A9B3-206541B62C7F}" type="pres">
      <dgm:prSet presAssocID="{FCE2B9B3-5839-4633-9DDC-3F88FD05EB1C}" presName="Accent1" presStyleCnt="0"/>
      <dgm:spPr/>
    </dgm:pt>
    <dgm:pt modelId="{A7B6F021-9AEB-45D4-9BAE-06BB7CBFD746}" type="pres">
      <dgm:prSet presAssocID="{FCE2B9B3-5839-4633-9DDC-3F88FD05EB1C}" presName="Accent" presStyleLbl="node1" presStyleIdx="0" presStyleCnt="3"/>
      <dgm:spPr/>
    </dgm:pt>
    <dgm:pt modelId="{547C904A-46B4-45FF-8979-DF14C85D56EE}" type="pres">
      <dgm:prSet presAssocID="{FCE2B9B3-5839-4633-9DDC-3F88FD05EB1C}" presName="Parent1" presStyleLbl="revTx" presStyleIdx="0" presStyleCnt="3" custScaleX="283993" custLinFactX="-28566" custLinFactNeighborX="-100000" custLinFactNeighborY="-46532">
        <dgm:presLayoutVars>
          <dgm:chMax val="1"/>
          <dgm:chPref val="1"/>
          <dgm:bulletEnabled val="1"/>
        </dgm:presLayoutVars>
      </dgm:prSet>
      <dgm:spPr/>
    </dgm:pt>
    <dgm:pt modelId="{45920A26-5F2E-4456-A023-EBCE81E761C6}" type="pres">
      <dgm:prSet presAssocID="{36707158-2A7F-4470-8614-D2441D89B8CC}" presName="Accent2" presStyleCnt="0"/>
      <dgm:spPr/>
    </dgm:pt>
    <dgm:pt modelId="{F05EFFE1-642B-473D-B68D-61BCC1B6F565}" type="pres">
      <dgm:prSet presAssocID="{36707158-2A7F-4470-8614-D2441D89B8CC}" presName="Accent" presStyleLbl="node1" presStyleIdx="1" presStyleCnt="3"/>
      <dgm:spPr/>
    </dgm:pt>
    <dgm:pt modelId="{B9307846-3968-4351-B217-FDF007BAED2E}" type="pres">
      <dgm:prSet presAssocID="{36707158-2A7F-4470-8614-D2441D89B8CC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C10C2065-26FA-431E-BD65-750695532E6C}" type="pres">
      <dgm:prSet presAssocID="{95092794-8EB8-4866-8BC4-19AB699FD825}" presName="Accent3" presStyleCnt="0"/>
      <dgm:spPr/>
    </dgm:pt>
    <dgm:pt modelId="{34A81F7B-05B1-4FAA-A8B3-A2B91728F572}" type="pres">
      <dgm:prSet presAssocID="{95092794-8EB8-4866-8BC4-19AB699FD825}" presName="Accent" presStyleLbl="node1" presStyleIdx="2" presStyleCnt="3"/>
      <dgm:spPr/>
    </dgm:pt>
    <dgm:pt modelId="{DDA678BF-1C7B-4ACE-B0E0-9CFC49D0B901}" type="pres">
      <dgm:prSet presAssocID="{95092794-8EB8-4866-8BC4-19AB699FD825}" presName="Parent3" presStyleLbl="revTx" presStyleIdx="2" presStyleCnt="3" custScaleX="214495" custLinFactX="40368" custLinFactNeighborX="100000" custLinFactNeighborY="31880">
        <dgm:presLayoutVars>
          <dgm:chMax val="1"/>
          <dgm:chPref val="1"/>
          <dgm:bulletEnabled val="1"/>
        </dgm:presLayoutVars>
      </dgm:prSet>
      <dgm:spPr/>
    </dgm:pt>
  </dgm:ptLst>
  <dgm:cxnLst>
    <dgm:cxn modelId="{DE151355-14E1-452E-A737-D44F39230893}" type="presOf" srcId="{36707158-2A7F-4470-8614-D2441D89B8CC}" destId="{B9307846-3968-4351-B217-FDF007BAED2E}" srcOrd="0" destOrd="0" presId="urn:microsoft.com/office/officeart/2009/layout/CircleArrowProcess"/>
    <dgm:cxn modelId="{96906AC7-7F8B-468C-9BD7-C3DABE97B889}" srcId="{40C0D4F4-D202-4046-AC90-B9F2B28A3ACB}" destId="{36707158-2A7F-4470-8614-D2441D89B8CC}" srcOrd="1" destOrd="0" parTransId="{4EFA4F70-896C-4CA5-A09B-466B6E504898}" sibTransId="{91A5F8D8-3FE3-4D01-8378-915C11054DA2}"/>
    <dgm:cxn modelId="{C43DB9C8-C4BC-40EA-B856-FDF33A96E9EE}" srcId="{40C0D4F4-D202-4046-AC90-B9F2B28A3ACB}" destId="{FCE2B9B3-5839-4633-9DDC-3F88FD05EB1C}" srcOrd="0" destOrd="0" parTransId="{3352EDB2-1A05-40DB-B30C-CC98DE54BD66}" sibTransId="{F46956F1-8138-4CFE-8639-198587CC3422}"/>
    <dgm:cxn modelId="{5B9A1BD0-C5F3-4E28-98BA-4E08BB81764E}" srcId="{40C0D4F4-D202-4046-AC90-B9F2B28A3ACB}" destId="{95092794-8EB8-4866-8BC4-19AB699FD825}" srcOrd="2" destOrd="0" parTransId="{EFEF8832-0B33-43B0-A1C7-D1A8062E965F}" sibTransId="{99B373BD-ED5E-4E00-B551-F4E545897374}"/>
    <dgm:cxn modelId="{A41C0DDB-9FE0-4BA9-9FF7-35F56BED49CF}" type="presOf" srcId="{40C0D4F4-D202-4046-AC90-B9F2B28A3ACB}" destId="{C4CC960A-5D7A-4DB8-8237-ABDAA6AF78B8}" srcOrd="0" destOrd="0" presId="urn:microsoft.com/office/officeart/2009/layout/CircleArrowProcess"/>
    <dgm:cxn modelId="{2DB76FE0-623A-4CBB-B812-0D199BFBC86A}" type="presOf" srcId="{FCE2B9B3-5839-4633-9DDC-3F88FD05EB1C}" destId="{547C904A-46B4-45FF-8979-DF14C85D56EE}" srcOrd="0" destOrd="0" presId="urn:microsoft.com/office/officeart/2009/layout/CircleArrowProcess"/>
    <dgm:cxn modelId="{019A69F5-93E8-4054-A429-CC05F675103D}" type="presOf" srcId="{95092794-8EB8-4866-8BC4-19AB699FD825}" destId="{DDA678BF-1C7B-4ACE-B0E0-9CFC49D0B901}" srcOrd="0" destOrd="0" presId="urn:microsoft.com/office/officeart/2009/layout/CircleArrowProcess"/>
    <dgm:cxn modelId="{3B011010-047B-4E98-925B-ADC462542974}" type="presParOf" srcId="{C4CC960A-5D7A-4DB8-8237-ABDAA6AF78B8}" destId="{FDA340C9-AC86-4436-A9B3-206541B62C7F}" srcOrd="0" destOrd="0" presId="urn:microsoft.com/office/officeart/2009/layout/CircleArrowProcess"/>
    <dgm:cxn modelId="{1A53849B-35C7-4C24-B8FB-C5FE567044E0}" type="presParOf" srcId="{FDA340C9-AC86-4436-A9B3-206541B62C7F}" destId="{A7B6F021-9AEB-45D4-9BAE-06BB7CBFD746}" srcOrd="0" destOrd="0" presId="urn:microsoft.com/office/officeart/2009/layout/CircleArrowProcess"/>
    <dgm:cxn modelId="{28183D85-2E51-4F49-B39C-48359D75C129}" type="presParOf" srcId="{C4CC960A-5D7A-4DB8-8237-ABDAA6AF78B8}" destId="{547C904A-46B4-45FF-8979-DF14C85D56EE}" srcOrd="1" destOrd="0" presId="urn:microsoft.com/office/officeart/2009/layout/CircleArrowProcess"/>
    <dgm:cxn modelId="{FA106E21-01CA-4E8C-8A7D-746C76396809}" type="presParOf" srcId="{C4CC960A-5D7A-4DB8-8237-ABDAA6AF78B8}" destId="{45920A26-5F2E-4456-A023-EBCE81E761C6}" srcOrd="2" destOrd="0" presId="urn:microsoft.com/office/officeart/2009/layout/CircleArrowProcess"/>
    <dgm:cxn modelId="{7B44915F-0693-4D80-A17E-5707674A99CA}" type="presParOf" srcId="{45920A26-5F2E-4456-A023-EBCE81E761C6}" destId="{F05EFFE1-642B-473D-B68D-61BCC1B6F565}" srcOrd="0" destOrd="0" presId="urn:microsoft.com/office/officeart/2009/layout/CircleArrowProcess"/>
    <dgm:cxn modelId="{CB880C79-394E-4719-9454-6FBABFE16A97}" type="presParOf" srcId="{C4CC960A-5D7A-4DB8-8237-ABDAA6AF78B8}" destId="{B9307846-3968-4351-B217-FDF007BAED2E}" srcOrd="3" destOrd="0" presId="urn:microsoft.com/office/officeart/2009/layout/CircleArrowProcess"/>
    <dgm:cxn modelId="{561555E9-CFF9-4E7D-BAC9-FBABA6DCCDD2}" type="presParOf" srcId="{C4CC960A-5D7A-4DB8-8237-ABDAA6AF78B8}" destId="{C10C2065-26FA-431E-BD65-750695532E6C}" srcOrd="4" destOrd="0" presId="urn:microsoft.com/office/officeart/2009/layout/CircleArrowProcess"/>
    <dgm:cxn modelId="{678BB4B0-24FB-44A5-9EAF-C40D2D6DFB7D}" type="presParOf" srcId="{C10C2065-26FA-431E-BD65-750695532E6C}" destId="{34A81F7B-05B1-4FAA-A8B3-A2B91728F572}" srcOrd="0" destOrd="0" presId="urn:microsoft.com/office/officeart/2009/layout/CircleArrowProcess"/>
    <dgm:cxn modelId="{B2082703-A20E-4012-A52D-5005BFC5F4AC}" type="presParOf" srcId="{C4CC960A-5D7A-4DB8-8237-ABDAA6AF78B8}" destId="{DDA678BF-1C7B-4ACE-B0E0-9CFC49D0B901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B6F021-9AEB-45D4-9BAE-06BB7CBFD746}">
      <dsp:nvSpPr>
        <dsp:cNvPr id="0" name=""/>
        <dsp:cNvSpPr/>
      </dsp:nvSpPr>
      <dsp:spPr>
        <a:xfrm>
          <a:off x="2404255" y="0"/>
          <a:ext cx="1748155" cy="1748421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7C904A-46B4-45FF-8979-DF14C85D56EE}">
      <dsp:nvSpPr>
        <dsp:cNvPr id="0" name=""/>
        <dsp:cNvSpPr/>
      </dsp:nvSpPr>
      <dsp:spPr>
        <a:xfrm>
          <a:off x="648075" y="405277"/>
          <a:ext cx="2758754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문단과 질의간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 유사도 측정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(</a:t>
          </a:r>
          <a:r>
            <a:rPr lang="ko-KR" altLang="en-US" sz="1400" kern="1200" dirty="0"/>
            <a:t>모델 학습</a:t>
          </a:r>
          <a:r>
            <a:rPr lang="en-US" altLang="ko-KR" sz="1400" kern="1200" dirty="0"/>
            <a:t>)</a:t>
          </a:r>
        </a:p>
      </dsp:txBody>
      <dsp:txXfrm>
        <a:off x="648075" y="405277"/>
        <a:ext cx="2758754" cy="485591"/>
      </dsp:txXfrm>
    </dsp:sp>
    <dsp:sp modelId="{F05EFFE1-642B-473D-B68D-61BCC1B6F565}">
      <dsp:nvSpPr>
        <dsp:cNvPr id="0" name=""/>
        <dsp:cNvSpPr/>
      </dsp:nvSpPr>
      <dsp:spPr>
        <a:xfrm>
          <a:off x="1918711" y="1004597"/>
          <a:ext cx="1748155" cy="1748421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307846-3968-4351-B217-FDF007BAED2E}">
      <dsp:nvSpPr>
        <dsp:cNvPr id="0" name=""/>
        <dsp:cNvSpPr/>
      </dsp:nvSpPr>
      <dsp:spPr>
        <a:xfrm>
          <a:off x="2307081" y="1641642"/>
          <a:ext cx="971416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신규 질문 입력</a:t>
          </a:r>
        </a:p>
      </dsp:txBody>
      <dsp:txXfrm>
        <a:off x="2307081" y="1641642"/>
        <a:ext cx="971416" cy="485591"/>
      </dsp:txXfrm>
    </dsp:sp>
    <dsp:sp modelId="{34A81F7B-05B1-4FAA-A8B3-A2B91728F572}">
      <dsp:nvSpPr>
        <dsp:cNvPr id="0" name=""/>
        <dsp:cNvSpPr/>
      </dsp:nvSpPr>
      <dsp:spPr>
        <a:xfrm>
          <a:off x="2528678" y="2129413"/>
          <a:ext cx="1501936" cy="1502538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678BF-1C7B-4ACE-B0E0-9CFC49D0B901}">
      <dsp:nvSpPr>
        <dsp:cNvPr id="0" name=""/>
        <dsp:cNvSpPr/>
      </dsp:nvSpPr>
      <dsp:spPr>
        <a:xfrm>
          <a:off x="3600400" y="2808310"/>
          <a:ext cx="2083639" cy="4855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/>
            <a:t>유사도 측정</a:t>
          </a:r>
          <a:endParaRPr lang="en-US" altLang="ko-KR" sz="1400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(</a:t>
          </a:r>
          <a:r>
            <a:rPr lang="ko-KR" altLang="en-US" sz="1400" kern="1200" dirty="0"/>
            <a:t>해당 문단 제시</a:t>
          </a:r>
          <a:r>
            <a:rPr lang="en-US" altLang="ko-KR" sz="1400" kern="1200" dirty="0"/>
            <a:t>)</a:t>
          </a:r>
          <a:endParaRPr lang="ko-KR" altLang="en-US" sz="1400" kern="1200" dirty="0"/>
        </a:p>
      </dsp:txBody>
      <dsp:txXfrm>
        <a:off x="3600400" y="2808310"/>
        <a:ext cx="2083639" cy="485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E8E3A2E-1BAF-46D3-7BEB-B138289565DE}"/>
              </a:ext>
            </a:extLst>
          </p:cNvPr>
          <p:cNvSpPr/>
          <p:nvPr userDrawn="1"/>
        </p:nvSpPr>
        <p:spPr>
          <a:xfrm>
            <a:off x="0" y="229568"/>
            <a:ext cx="12192000" cy="31200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73F9E-8D1A-CE6F-F02E-4A2C485B307D}"/>
              </a:ext>
            </a:extLst>
          </p:cNvPr>
          <p:cNvSpPr txBox="1"/>
          <p:nvPr userDrawn="1"/>
        </p:nvSpPr>
        <p:spPr>
          <a:xfrm>
            <a:off x="7635810" y="6601849"/>
            <a:ext cx="3463925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2024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년도 </a:t>
            </a:r>
            <a:r>
              <a:rPr lang="ko-KR" altLang="en-US" sz="1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프로젝트평가 훈련기관 신청안내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8DCB8-9B75-7CF9-7713-9B5345DBB23B}"/>
              </a:ext>
            </a:extLst>
          </p:cNvPr>
          <p:cNvSpPr txBox="1"/>
          <p:nvPr userDrawn="1"/>
        </p:nvSpPr>
        <p:spPr>
          <a:xfrm>
            <a:off x="9005162" y="6594154"/>
            <a:ext cx="275499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r" defTabSz="914400" rtl="0" eaLnBrk="1" latinLnBrk="1" hangingPunct="1"/>
            <a:fld id="{5426B8F6-3B26-4B2F-9C3C-1E76C1EF5307}" type="slidenum">
              <a:rPr lang="ko-KR" altLang="en-US" sz="1000" kern="120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pPr marL="0" algn="r" defTabSz="914400" rtl="0" eaLnBrk="1" latinLnBrk="1" hangingPunct="1"/>
              <a:t>‹#›</a:t>
            </a:fld>
            <a:endParaRPr lang="ko-KR" altLang="en-US" sz="1000" kern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6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8308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109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2025-12-22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2.svg"/><Relationship Id="rId21" Type="http://schemas.openxmlformats.org/officeDocument/2006/relationships/image" Target="../media/image35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13" Type="http://schemas.openxmlformats.org/officeDocument/2006/relationships/image" Target="../media/image47.png"/><Relationship Id="rId18" Type="http://schemas.openxmlformats.org/officeDocument/2006/relationships/image" Target="../media/image2.svg"/><Relationship Id="rId3" Type="http://schemas.openxmlformats.org/officeDocument/2006/relationships/image" Target="../media/image37.svg"/><Relationship Id="rId21" Type="http://schemas.openxmlformats.org/officeDocument/2006/relationships/image" Target="../media/image5.png"/><Relationship Id="rId7" Type="http://schemas.openxmlformats.org/officeDocument/2006/relationships/image" Target="../media/image41.png"/><Relationship Id="rId12" Type="http://schemas.openxmlformats.org/officeDocument/2006/relationships/image" Target="../media/image46.svg"/><Relationship Id="rId17" Type="http://schemas.openxmlformats.org/officeDocument/2006/relationships/image" Target="../media/image1.png"/><Relationship Id="rId2" Type="http://schemas.openxmlformats.org/officeDocument/2006/relationships/image" Target="../media/image36.png"/><Relationship Id="rId16" Type="http://schemas.openxmlformats.org/officeDocument/2006/relationships/image" Target="../media/image50.svg"/><Relationship Id="rId20" Type="http://schemas.openxmlformats.org/officeDocument/2006/relationships/image" Target="../media/image52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23" Type="http://schemas.openxmlformats.org/officeDocument/2006/relationships/image" Target="../media/image7.svg"/><Relationship Id="rId10" Type="http://schemas.openxmlformats.org/officeDocument/2006/relationships/image" Target="../media/image44.svg"/><Relationship Id="rId19" Type="http://schemas.openxmlformats.org/officeDocument/2006/relationships/image" Target="../media/image51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svg"/><Relationship Id="rId22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54.svg"/><Relationship Id="rId21" Type="http://schemas.openxmlformats.org/officeDocument/2006/relationships/image" Target="../media/image71.svg"/><Relationship Id="rId7" Type="http://schemas.openxmlformats.org/officeDocument/2006/relationships/image" Target="../media/image57.png"/><Relationship Id="rId12" Type="http://schemas.openxmlformats.org/officeDocument/2006/relationships/image" Target="../media/image62.svg"/><Relationship Id="rId17" Type="http://schemas.openxmlformats.org/officeDocument/2006/relationships/image" Target="../media/image67.png"/><Relationship Id="rId2" Type="http://schemas.openxmlformats.org/officeDocument/2006/relationships/image" Target="../media/image53.png"/><Relationship Id="rId16" Type="http://schemas.openxmlformats.org/officeDocument/2006/relationships/image" Target="../media/image66.sv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svg"/><Relationship Id="rId11" Type="http://schemas.openxmlformats.org/officeDocument/2006/relationships/image" Target="../media/image61.png"/><Relationship Id="rId5" Type="http://schemas.openxmlformats.org/officeDocument/2006/relationships/image" Target="../media/image55.png"/><Relationship Id="rId15" Type="http://schemas.openxmlformats.org/officeDocument/2006/relationships/image" Target="../media/image65.png"/><Relationship Id="rId10" Type="http://schemas.openxmlformats.org/officeDocument/2006/relationships/image" Target="../media/image60.svg"/><Relationship Id="rId19" Type="http://schemas.openxmlformats.org/officeDocument/2006/relationships/image" Target="../media/image69.svg"/><Relationship Id="rId4" Type="http://schemas.openxmlformats.org/officeDocument/2006/relationships/image" Target="../media/image38.png"/><Relationship Id="rId9" Type="http://schemas.openxmlformats.org/officeDocument/2006/relationships/image" Target="../media/image59.png"/><Relationship Id="rId14" Type="http://schemas.openxmlformats.org/officeDocument/2006/relationships/image" Target="../media/image6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76.svg"/><Relationship Id="rId3" Type="http://schemas.openxmlformats.org/officeDocument/2006/relationships/image" Target="../media/image37.svg"/><Relationship Id="rId7" Type="http://schemas.openxmlformats.org/officeDocument/2006/relationships/image" Target="../media/image74.svg"/><Relationship Id="rId12" Type="http://schemas.openxmlformats.org/officeDocument/2006/relationships/image" Target="../media/image7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11" Type="http://schemas.openxmlformats.org/officeDocument/2006/relationships/image" Target="../media/image7.svg"/><Relationship Id="rId5" Type="http://schemas.openxmlformats.org/officeDocument/2006/relationships/image" Target="../media/image73.svg"/><Relationship Id="rId15" Type="http://schemas.openxmlformats.org/officeDocument/2006/relationships/image" Target="../media/image78.svg"/><Relationship Id="rId10" Type="http://schemas.openxmlformats.org/officeDocument/2006/relationships/image" Target="../media/image6.png"/><Relationship Id="rId4" Type="http://schemas.openxmlformats.org/officeDocument/2006/relationships/image" Target="../media/image72.png"/><Relationship Id="rId9" Type="http://schemas.openxmlformats.org/officeDocument/2006/relationships/image" Target="../media/image5.png"/><Relationship Id="rId14" Type="http://schemas.openxmlformats.org/officeDocument/2006/relationships/image" Target="../media/image7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12" Type="http://schemas.microsoft.com/office/2007/relationships/diagramDrawing" Target="../diagrams/drawing1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5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38.png"/><Relationship Id="rId9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8.png"/><Relationship Id="rId9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8.png"/><Relationship Id="rId9" Type="http://schemas.openxmlformats.org/officeDocument/2006/relationships/image" Target="../media/image8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7" Type="http://schemas.openxmlformats.org/officeDocument/2006/relationships/image" Target="../media/image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7.svg"/><Relationship Id="rId3" Type="http://schemas.openxmlformats.org/officeDocument/2006/relationships/image" Target="../media/image37.svg"/><Relationship Id="rId7" Type="http://schemas.openxmlformats.org/officeDocument/2006/relationships/image" Target="../media/image86.svg"/><Relationship Id="rId12" Type="http://schemas.openxmlformats.org/officeDocument/2006/relationships/image" Target="../media/image6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5.png"/><Relationship Id="rId11" Type="http://schemas.openxmlformats.org/officeDocument/2006/relationships/image" Target="../media/image5.png"/><Relationship Id="rId5" Type="http://schemas.openxmlformats.org/officeDocument/2006/relationships/image" Target="../media/image84.svg"/><Relationship Id="rId10" Type="http://schemas.openxmlformats.org/officeDocument/2006/relationships/image" Target="../media/image88.svg"/><Relationship Id="rId4" Type="http://schemas.openxmlformats.org/officeDocument/2006/relationships/image" Target="../media/image83.png"/><Relationship Id="rId9" Type="http://schemas.openxmlformats.org/officeDocument/2006/relationships/image" Target="../media/image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4367809" y="1370504"/>
            <a:ext cx="7115886" cy="2285893"/>
            <a:chOff x="6747213" y="1370504"/>
            <a:chExt cx="4736481" cy="228589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8" y="1370504"/>
              <a:ext cx="29482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한국 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IT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교육원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47213" y="1809738"/>
              <a:ext cx="4736481" cy="1846659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>
                <a:defRPr/>
              </a:pPr>
              <a:r>
                <a:rPr lang="en-US" altLang="ko-KR" sz="4000" b="1" dirty="0"/>
                <a:t>AWS </a:t>
              </a:r>
              <a:r>
                <a:rPr lang="ko-KR" altLang="ko-KR" sz="4000" b="1" dirty="0"/>
                <a:t>기반의 클라우드 </a:t>
              </a:r>
              <a:endParaRPr lang="en-US" altLang="ko-KR" sz="4000" b="1" dirty="0"/>
            </a:p>
            <a:p>
              <a:pPr>
                <a:defRPr/>
              </a:pPr>
              <a:r>
                <a:rPr lang="ko-KR" altLang="ko-KR" sz="4000" b="1" dirty="0"/>
                <a:t>네이티브 애플리케이션 </a:t>
              </a:r>
              <a:endParaRPr lang="en-US" altLang="ko-KR" sz="4000" b="1" dirty="0"/>
            </a:p>
            <a:p>
              <a:pPr>
                <a:defRPr/>
              </a:pPr>
              <a:r>
                <a:rPr lang="ko-KR" altLang="ko-KR" sz="4000" b="1" dirty="0"/>
                <a:t>설계 및 배포</a:t>
              </a:r>
              <a:endParaRPr lang="ko-KR" altLang="en-US" sz="4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747213" y="3882051"/>
            <a:ext cx="5236249" cy="1641298"/>
            <a:chOff x="6768048" y="3882051"/>
            <a:chExt cx="5236249" cy="1641298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31823" y="4028125"/>
              <a:ext cx="5158567" cy="956159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TEAM 1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조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  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분석해조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김민종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, </a:t>
              </a: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허성운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, </a:t>
              </a: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권미선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, </a:t>
              </a: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a typeface="맑은 고딕"/>
                </a:rPr>
                <a:t>박가은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맑은 고딕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65ADEEF-A1EB-4A5E-B31D-2DD09939039D}"/>
                </a:ext>
              </a:extLst>
            </p:cNvPr>
            <p:cNvSpPr txBox="1"/>
            <p:nvPr/>
          </p:nvSpPr>
          <p:spPr>
            <a:xfrm>
              <a:off x="6845730" y="5121188"/>
              <a:ext cx="5158567" cy="40216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[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멘토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] </a:t>
              </a: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허인행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강사님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56700" cy="1269295"/>
            <a:chOff x="870882" y="519237"/>
            <a:chExt cx="2256700" cy="1269295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75370" y="957535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4444751" cy="584775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86200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9" y="3175385"/>
            <a:ext cx="3976700" cy="584775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185695" cy="584775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256573" cy="584775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C425D4-6E83-E94D-6C6B-194A0473AC84}"/>
              </a:ext>
            </a:extLst>
          </p:cNvPr>
          <p:cNvGrpSpPr/>
          <p:nvPr/>
        </p:nvGrpSpPr>
        <p:grpSpPr>
          <a:xfrm>
            <a:off x="6242109" y="5573304"/>
            <a:ext cx="3976700" cy="584775"/>
            <a:chOff x="6242109" y="5573304"/>
            <a:chExt cx="3976700" cy="584775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CFF09DF-8F34-A520-554E-5E8D5B8B64FC}"/>
                </a:ext>
              </a:extLst>
            </p:cNvPr>
            <p:cNvSpPr txBox="1"/>
            <p:nvPr/>
          </p:nvSpPr>
          <p:spPr>
            <a:xfrm>
              <a:off x="7013793" y="5718935"/>
              <a:ext cx="3205016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31F813-66E5-6D7E-A2E8-9D595F7C4B3C}"/>
                </a:ext>
              </a:extLst>
            </p:cNvPr>
            <p:cNvSpPr txBox="1"/>
            <p:nvPr/>
          </p:nvSpPr>
          <p:spPr>
            <a:xfrm>
              <a:off x="6242109" y="5573304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래픽 16">
            <a:extLst>
              <a:ext uri="{FF2B5EF4-FFF2-40B4-BE49-F238E27FC236}">
                <a16:creationId xmlns:a16="http://schemas.microsoft.com/office/drawing/2014/main" id="{5D7D92DC-AA5F-DB8A-4577-CE6DDC763B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18F8096-D17C-15A7-34ED-DD08BC50AA49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168CD54-D633-5776-71CD-FD7897E3EC30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아래 내용이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반드시 포함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되도록 작성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  </a:t>
              </a:r>
            </a:p>
          </p:txBody>
        </p:sp>
        <p:sp>
          <p:nvSpPr>
            <p:cNvPr id="30" name="그래픽 43">
              <a:extLst>
                <a:ext uri="{FF2B5EF4-FFF2-40B4-BE49-F238E27FC236}">
                  <a16:creationId xmlns:a16="http://schemas.microsoft.com/office/drawing/2014/main" id="{3A85AD0A-F31C-CE36-E2E5-7C20DEA387EC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0C547BD1-FC8C-AF26-C281-E98B0339386D}"/>
                </a:ext>
              </a:extLst>
            </p:cNvPr>
            <p:cNvSpPr txBox="1"/>
            <p:nvPr/>
          </p:nvSpPr>
          <p:spPr>
            <a:xfrm>
              <a:off x="7557944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구조</a:t>
              </a:r>
              <a:endParaRPr lang="en-US" altLang="ko-KR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3060042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453027"/>
              <a:ext cx="2122307" cy="1293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</a:rPr>
                <a:t>기존 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</a:rPr>
                <a:t>LMS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</a:rPr>
                <a:t>소스코드 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</a:rPr>
                <a:t>리눅스 환경 이전 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</a:rPr>
                <a:t>AWS </a:t>
              </a:r>
              <a:r>
                <a:rPr lang="en-US" altLang="ko-KR" sz="12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</a:rPr>
                <a:t>Lightsail</a:t>
              </a: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</a:rPr>
                <a:t> 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</a:rPr>
                <a:t>인프라 구축도메인 연결 및 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</a:rPr>
                <a:t>네트워크 설정운영 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</a:rPr>
                <a:t>환경 구성 및 배포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3060042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rPr>
                <a:t> 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5EAF9AB-4D7C-5465-0AF3-CD762D73A6DD}"/>
                </a:ext>
              </a:extLst>
            </p:cNvPr>
            <p:cNvSpPr txBox="1"/>
            <p:nvPr/>
          </p:nvSpPr>
          <p:spPr>
            <a:xfrm>
              <a:off x="2784169" y="4453027"/>
              <a:ext cx="2122307" cy="4813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b="1" dirty="0"/>
                <a:t>AWS </a:t>
              </a:r>
              <a:r>
                <a:rPr lang="ko-KR" altLang="en-US" sz="1200" b="1" dirty="0" err="1"/>
                <a:t>기반클라우</a:t>
              </a:r>
              <a:r>
                <a:rPr lang="ko-KR" altLang="en-US" sz="1200" b="1" dirty="0"/>
                <a:t> </a:t>
              </a:r>
              <a:r>
                <a:rPr lang="ko-KR" altLang="en-US" sz="1200" b="1" dirty="0" err="1"/>
                <a:t>드네이티브애플</a:t>
              </a:r>
              <a:r>
                <a:rPr lang="ko-KR" altLang="en-US" sz="1200" b="1" dirty="0"/>
                <a:t> </a:t>
              </a:r>
              <a:r>
                <a:rPr lang="ko-KR" altLang="en-US" sz="1200" b="1" dirty="0" err="1"/>
                <a:t>리케이션설계및</a:t>
              </a:r>
              <a:r>
                <a:rPr lang="ko-KR" altLang="en-US" sz="1200" b="1" dirty="0"/>
                <a:t> 배포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260129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4374" y="2373418"/>
            <a:ext cx="2124575" cy="3803725"/>
            <a:chOff x="5064272" y="2373418"/>
            <a:chExt cx="2124575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0289313C-4C2B-5EE0-C9F0-90127689E2F1}"/>
                </a:ext>
              </a:extLst>
            </p:cNvPr>
            <p:cNvSpPr txBox="1"/>
            <p:nvPr/>
          </p:nvSpPr>
          <p:spPr>
            <a:xfrm>
              <a:off x="5275573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 장비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재료</a:t>
              </a:r>
              <a:endPara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CB80E50D-4435-40D3-6132-B95A7BAC651C}"/>
                </a:ext>
              </a:extLst>
            </p:cNvPr>
            <p:cNvSpPr txBox="1"/>
            <p:nvPr/>
          </p:nvSpPr>
          <p:spPr>
            <a:xfrm>
              <a:off x="5064272" y="4453027"/>
              <a:ext cx="2122307" cy="88761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AWS</a:t>
              </a:r>
              <a:r>
                <a:rPr lang="ko-KR" altLang="en-US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2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Lightsail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Linux Ubuntu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Java 17 , Spring Boot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MySQL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16850" y="2373418"/>
            <a:ext cx="2126842" cy="3803725"/>
            <a:chOff x="9626748" y="2373418"/>
            <a:chExt cx="2126842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3060042"/>
              <a:ext cx="1704241" cy="6758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활용방안 및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기대 효과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D87F30DB-0C46-D738-9EDC-BA98CB38FF11}"/>
                </a:ext>
              </a:extLst>
            </p:cNvPr>
            <p:cNvSpPr txBox="1"/>
            <p:nvPr/>
          </p:nvSpPr>
          <p:spPr>
            <a:xfrm>
              <a:off x="9626748" y="4453027"/>
              <a:ext cx="2122307" cy="12938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0000"/>
                </a:lnSpc>
                <a:defRPr/>
              </a:pPr>
              <a:r>
                <a:rPr lang="en-US" altLang="ko-KR" sz="1200" b="1" dirty="0"/>
                <a:t>-</a:t>
              </a:r>
              <a:r>
                <a:rPr lang="ko-KR" altLang="en-US" sz="1200" b="1" dirty="0"/>
                <a:t>비용 절감 및 </a:t>
              </a:r>
              <a:endParaRPr lang="en-US" altLang="ko-KR" sz="1200" b="1" dirty="0"/>
            </a:p>
            <a:p>
              <a:pPr>
                <a:lnSpc>
                  <a:spcPct val="110000"/>
                </a:lnSpc>
                <a:defRPr/>
              </a:pPr>
              <a:r>
                <a:rPr lang="ko-KR" altLang="en-US" sz="1200" b="1" dirty="0"/>
                <a:t>효율적인 인프라 관리</a:t>
              </a:r>
              <a:endParaRPr lang="en-US" altLang="ko-KR" sz="1200" b="1" dirty="0"/>
            </a:p>
            <a:p>
              <a:pPr>
                <a:lnSpc>
                  <a:spcPct val="110000"/>
                </a:lnSpc>
                <a:defRPr/>
              </a:pPr>
              <a:r>
                <a:rPr lang="en-US" altLang="ko-KR" sz="1200" b="1" dirty="0"/>
                <a:t>-</a:t>
              </a:r>
              <a:r>
                <a:rPr lang="ko-KR" altLang="en-US" sz="1200" b="1" dirty="0"/>
                <a:t>클라우드</a:t>
              </a:r>
              <a:r>
                <a:rPr lang="en-US" altLang="ko-KR" sz="1200" b="1" dirty="0"/>
                <a:t>·</a:t>
              </a:r>
              <a:r>
                <a:rPr lang="ko-KR" altLang="en-US" sz="1200" b="1" dirty="0"/>
                <a:t>리눅스 실무 역량 강화</a:t>
              </a:r>
              <a:endParaRPr lang="en-US" altLang="ko-KR" sz="1200" b="1" dirty="0"/>
            </a:p>
            <a:p>
              <a:pPr>
                <a:lnSpc>
                  <a:spcPct val="110000"/>
                </a:lnSpc>
                <a:defRPr/>
              </a:pPr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latin typeface="맑은 고딕" panose="020B0503020000020004" pitchFamily="50" charset="-127"/>
                  <a:ea typeface="맑은 고딕" panose="020B0503020000020004" pitchFamily="50" charset="-127"/>
                </a:rPr>
                <a:t>-</a:t>
              </a:r>
              <a:r>
                <a:rPr lang="ko-KR" altLang="en-US" sz="1200" b="1" dirty="0"/>
                <a:t>자동화된 배포로 운영 생산성 증가</a:t>
              </a:r>
              <a:endPara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4260129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21917" y="2327752"/>
          <a:ext cx="11218265" cy="3666222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22440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7475593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/>
                          <a:ea typeface="맑은 고딕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600" b="1" i="0" u="none" strike="noStrike" kern="1200" noProof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김민종</a:t>
                      </a:r>
                      <a:endParaRPr lang="ko-KR"/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sz="1600" b="1" i="0" u="none" strike="noStrike" kern="1200" noProof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허성운</a:t>
                      </a:r>
                      <a:endParaRPr lang="ko-KR"/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팀원</a:t>
                      </a:r>
                      <a:endParaRPr lang="en-US" altLang="ko-KR" sz="1600" b="1" i="0" kern="1200" noProof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ko-KR" sz="1600" b="1" i="0" u="none" strike="noStrike" kern="1200" noProof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Malgun Gothic"/>
                          <a:ea typeface="Malgun Gothic"/>
                        </a:rPr>
                        <a:t>권미선</a:t>
                      </a:r>
                      <a:endParaRPr lang="ko-KR"/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noProof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박가은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600" b="1" i="0" kern="1200" noProof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EEEDF178-AE45-78BF-93DC-29DA514FC743}"/>
              </a:ext>
            </a:extLst>
          </p:cNvPr>
          <p:cNvGrpSpPr/>
          <p:nvPr/>
        </p:nvGrpSpPr>
        <p:grpSpPr>
          <a:xfrm>
            <a:off x="4611625" y="3170220"/>
            <a:ext cx="2766298" cy="358635"/>
            <a:chOff x="4525872" y="3492488"/>
            <a:chExt cx="2766298" cy="358635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A4D5C7C2-665C-7F5E-7CF3-7A15FA837188}"/>
                </a:ext>
              </a:extLst>
            </p:cNvPr>
            <p:cNvSpPr/>
            <p:nvPr/>
          </p:nvSpPr>
          <p:spPr>
            <a:xfrm>
              <a:off x="4525872" y="3492488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40" name="타원 139">
              <a:extLst>
                <a:ext uri="{FF2B5EF4-FFF2-40B4-BE49-F238E27FC236}">
                  <a16:creationId xmlns:a16="http://schemas.microsoft.com/office/drawing/2014/main" id="{3AFCED98-113B-F75D-CEB2-39E813851D55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9FA35B57-A2CE-9C5D-103D-53DF07421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CB858A7-1A91-D7F1-463B-A7B454AD0CA1}"/>
                </a:ext>
              </a:extLst>
            </p:cNvPr>
            <p:cNvSpPr txBox="1"/>
            <p:nvPr/>
          </p:nvSpPr>
          <p:spPr>
            <a:xfrm>
              <a:off x="4893640" y="3519045"/>
              <a:ext cx="2398530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defRPr/>
              </a:pPr>
              <a:r>
                <a:rPr lang="en-US" altLang="ko-KR" sz="1200" b="1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AWS</a:t>
              </a:r>
              <a:r>
                <a:rPr lang="ko-KR" altLang="en-US" sz="1200" b="1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 설계 구현 및 개념 정리</a:t>
              </a:r>
            </a:p>
          </p:txBody>
        </p:sp>
      </p:grp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D1088FFE-778C-CF69-A75E-E82D40CEA0C5}"/>
              </a:ext>
            </a:extLst>
          </p:cNvPr>
          <p:cNvSpPr/>
          <p:nvPr/>
        </p:nvSpPr>
        <p:spPr>
          <a:xfrm>
            <a:off x="4603037" y="3991341"/>
            <a:ext cx="4438411" cy="315504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E1389372-CDE5-C988-2498-F8F7850DB589}"/>
              </a:ext>
            </a:extLst>
          </p:cNvPr>
          <p:cNvSpPr/>
          <p:nvPr/>
        </p:nvSpPr>
        <p:spPr>
          <a:xfrm>
            <a:off x="4593391" y="3942892"/>
            <a:ext cx="358635" cy="358635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80" name="그래픽 179">
            <a:extLst>
              <a:ext uri="{FF2B5EF4-FFF2-40B4-BE49-F238E27FC236}">
                <a16:creationId xmlns:a16="http://schemas.microsoft.com/office/drawing/2014/main" id="{6D277CD9-1D6B-BCDF-F5CB-1AF8956FB3F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70262" y="4027042"/>
            <a:ext cx="216867" cy="193294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765C588E-981B-4FC3-FE5C-730A56AC180D}"/>
              </a:ext>
            </a:extLst>
          </p:cNvPr>
          <p:cNvGrpSpPr/>
          <p:nvPr/>
        </p:nvGrpSpPr>
        <p:grpSpPr>
          <a:xfrm>
            <a:off x="4603037" y="4684821"/>
            <a:ext cx="2880803" cy="358635"/>
            <a:chOff x="4525872" y="5045671"/>
            <a:chExt cx="2880803" cy="358635"/>
          </a:xfrm>
        </p:grpSpPr>
        <p:sp>
          <p:nvSpPr>
            <p:cNvPr id="163" name="사각형: 둥근 모서리 162">
              <a:extLst>
                <a:ext uri="{FF2B5EF4-FFF2-40B4-BE49-F238E27FC236}">
                  <a16:creationId xmlns:a16="http://schemas.microsoft.com/office/drawing/2014/main" id="{303154F9-B8AC-372E-0CDB-A0DDCCE0AED9}"/>
                </a:ext>
              </a:extLst>
            </p:cNvPr>
            <p:cNvSpPr/>
            <p:nvPr/>
          </p:nvSpPr>
          <p:spPr>
            <a:xfrm>
              <a:off x="4536310" y="5076986"/>
              <a:ext cx="2869703" cy="32732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DACC4B7D-2BE7-C756-2D53-813C9C1FF2EE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EEA2092-389C-0AA3-CDE5-12283C706BA3}"/>
                </a:ext>
              </a:extLst>
            </p:cNvPr>
            <p:cNvSpPr txBox="1"/>
            <p:nvPr/>
          </p:nvSpPr>
          <p:spPr>
            <a:xfrm>
              <a:off x="4877894" y="5072228"/>
              <a:ext cx="2528781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defRPr/>
              </a:pPr>
              <a:r>
                <a:rPr lang="en-US" altLang="ko-KR" sz="1200" b="1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</a:rPr>
                <a:t>AWS</a:t>
              </a:r>
              <a:r>
                <a:rPr lang="ko-KR" altLang="en-US" sz="1200" b="1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</a:rPr>
                <a:t> 설계 구현 및 개념 정리</a:t>
              </a:r>
            </a:p>
          </p:txBody>
        </p:sp>
        <p:pic>
          <p:nvPicPr>
            <p:cNvPr id="182" name="그래픽 181">
              <a:extLst>
                <a:ext uri="{FF2B5EF4-FFF2-40B4-BE49-F238E27FC236}">
                  <a16:creationId xmlns:a16="http://schemas.microsoft.com/office/drawing/2014/main" id="{868BBF98-12BA-9238-1643-BF7C1BA2E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9D315D2B-355C-1615-E050-9A778001B89F}"/>
              </a:ext>
            </a:extLst>
          </p:cNvPr>
          <p:cNvGrpSpPr/>
          <p:nvPr/>
        </p:nvGrpSpPr>
        <p:grpSpPr>
          <a:xfrm>
            <a:off x="7878972" y="4713729"/>
            <a:ext cx="2619183" cy="316882"/>
            <a:chOff x="7579407" y="5045671"/>
            <a:chExt cx="2713128" cy="358635"/>
          </a:xfrm>
        </p:grpSpPr>
        <p:sp>
          <p:nvSpPr>
            <p:cNvPr id="166" name="사각형: 둥근 모서리 165">
              <a:extLst>
                <a:ext uri="{FF2B5EF4-FFF2-40B4-BE49-F238E27FC236}">
                  <a16:creationId xmlns:a16="http://schemas.microsoft.com/office/drawing/2014/main" id="{C9D6C950-8B41-2D76-50B6-0D646375AB0D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B587C0B1-E8A6-C24D-7642-E82E3112FECD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24B626D-98A1-99BA-C6BF-9429BF93797D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defRPr/>
              </a:pPr>
              <a:endParaRPr lang="en-US" altLang="ko-KR" sz="1200" b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184" name="그래픽 183">
              <a:extLst>
                <a:ext uri="{FF2B5EF4-FFF2-40B4-BE49-F238E27FC236}">
                  <a16:creationId xmlns:a16="http://schemas.microsoft.com/office/drawing/2014/main" id="{A974807F-F190-B444-17DF-2D7DAC1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  <p:grpSp>
        <p:nvGrpSpPr>
          <p:cNvPr id="71" name="그룹 70">
            <a:extLst>
              <a:ext uri="{FF2B5EF4-FFF2-40B4-BE49-F238E27FC236}">
                <a16:creationId xmlns:a16="http://schemas.microsoft.com/office/drawing/2014/main" id="{3BDD95DC-DA8A-4AAB-A1EA-1138EBBDDDA6}"/>
              </a:ext>
            </a:extLst>
          </p:cNvPr>
          <p:cNvGrpSpPr/>
          <p:nvPr/>
        </p:nvGrpSpPr>
        <p:grpSpPr>
          <a:xfrm>
            <a:off x="4603037" y="5391571"/>
            <a:ext cx="3125732" cy="416144"/>
            <a:chOff x="4525872" y="4988162"/>
            <a:chExt cx="3125732" cy="416144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0F7024FB-82F7-4ABF-BD9F-D29210EF9D87}"/>
                </a:ext>
              </a:extLst>
            </p:cNvPr>
            <p:cNvSpPr/>
            <p:nvPr/>
          </p:nvSpPr>
          <p:spPr>
            <a:xfrm>
              <a:off x="4525872" y="4988162"/>
              <a:ext cx="3101316" cy="401767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8F38C6F1-01E4-41D5-A4A8-36B36A0F68FB}"/>
                </a:ext>
              </a:extLst>
            </p:cNvPr>
            <p:cNvSpPr/>
            <p:nvPr/>
          </p:nvSpPr>
          <p:spPr>
            <a:xfrm>
              <a:off x="4525872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6A20AF21-01F7-4550-ACD6-D0B782C46507}"/>
                </a:ext>
              </a:extLst>
            </p:cNvPr>
            <p:cNvSpPr txBox="1"/>
            <p:nvPr/>
          </p:nvSpPr>
          <p:spPr>
            <a:xfrm>
              <a:off x="4893641" y="5057851"/>
              <a:ext cx="2757963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defRPr/>
              </a:pPr>
              <a:endParaRPr lang="ko-KR" altLang="en-US" sz="12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2">
                    <a:lumMod val="25000"/>
                  </a:schemeClr>
                </a:solidFill>
                <a:latin typeface="Malgun Gothic"/>
                <a:ea typeface="Malgun Gothic"/>
              </a:endParaRPr>
            </a:p>
          </p:txBody>
        </p:sp>
        <p:pic>
          <p:nvPicPr>
            <p:cNvPr id="75" name="그래픽 74">
              <a:extLst>
                <a:ext uri="{FF2B5EF4-FFF2-40B4-BE49-F238E27FC236}">
                  <a16:creationId xmlns:a16="http://schemas.microsoft.com/office/drawing/2014/main" id="{97A52903-4ED0-45AB-99BE-83B3BFA7C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602565" y="5120407"/>
              <a:ext cx="219805" cy="201488"/>
            </a:xfrm>
            <a:prstGeom prst="rect">
              <a:avLst/>
            </a:prstGeom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9F2D13D-2C95-336A-0AEF-23B7DF51A09A}"/>
              </a:ext>
            </a:extLst>
          </p:cNvPr>
          <p:cNvGrpSpPr/>
          <p:nvPr/>
        </p:nvGrpSpPr>
        <p:grpSpPr>
          <a:xfrm>
            <a:off x="7878972" y="5380479"/>
            <a:ext cx="2619183" cy="316882"/>
            <a:chOff x="7579407" y="5045671"/>
            <a:chExt cx="2713128" cy="358635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09058FA0-8759-2A0F-F7EA-51765A033B75}"/>
                </a:ext>
              </a:extLst>
            </p:cNvPr>
            <p:cNvSpPr/>
            <p:nvPr/>
          </p:nvSpPr>
          <p:spPr>
            <a:xfrm>
              <a:off x="7579407" y="5045671"/>
              <a:ext cx="2713128" cy="358635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AF677E7E-DF71-6AF7-A5C8-94383DFF2A12}"/>
                </a:ext>
              </a:extLst>
            </p:cNvPr>
            <p:cNvSpPr/>
            <p:nvPr/>
          </p:nvSpPr>
          <p:spPr>
            <a:xfrm>
              <a:off x="7579407" y="5045671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533167D-17F2-5869-A086-61555B0A7B28}"/>
                </a:ext>
              </a:extLst>
            </p:cNvPr>
            <p:cNvSpPr txBox="1"/>
            <p:nvPr/>
          </p:nvSpPr>
          <p:spPr>
            <a:xfrm>
              <a:off x="8133721" y="5072228"/>
              <a:ext cx="1866568" cy="276999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>
                <a:defRPr/>
              </a:pPr>
              <a:endParaRPr lang="en-US" altLang="ko-KR" sz="1200" b="1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DBBD0F81-B736-A565-65C8-B3CAF7EBA3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638343" y="5153798"/>
              <a:ext cx="240516" cy="150322"/>
            </a:xfrm>
            <a:prstGeom prst="rect">
              <a:avLst/>
            </a:prstGeom>
          </p:spPr>
        </p:pic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F4DA8449-F7A4-421B-BCCE-A94DD816E08F}"/>
              </a:ext>
            </a:extLst>
          </p:cNvPr>
          <p:cNvSpPr txBox="1"/>
          <p:nvPr/>
        </p:nvSpPr>
        <p:spPr>
          <a:xfrm>
            <a:off x="5000055" y="3969060"/>
            <a:ext cx="2398530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altLang="ko-KR" sz="12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</a:t>
            </a:r>
            <a:r>
              <a:rPr lang="ko-KR" altLang="en-US" sz="12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설계 구현 및 개념 정리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5A1476B-5409-43DC-8340-1A1E9CE7E533}"/>
              </a:ext>
            </a:extLst>
          </p:cNvPr>
          <p:cNvSpPr txBox="1"/>
          <p:nvPr/>
        </p:nvSpPr>
        <p:spPr>
          <a:xfrm>
            <a:off x="4955059" y="5481228"/>
            <a:ext cx="2528781" cy="27699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altLang="ko-KR" sz="12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</a:rPr>
              <a:t>AWS</a:t>
            </a:r>
            <a:r>
              <a:rPr lang="ko-KR" altLang="en-US" sz="12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</a:rPr>
              <a:t> 설계 구현 및 개념 정리</a:t>
            </a:r>
          </a:p>
        </p:txBody>
      </p:sp>
    </p:spTree>
    <p:extLst>
      <p:ext uri="{BB962C8B-B14F-4D97-AF65-F5344CB8AC3E}">
        <p14:creationId xmlns:p14="http://schemas.microsoft.com/office/powerpoint/2010/main" val="22603379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512AEB8B-AA28-FDBA-00E7-D5D95C2F683D}"/>
              </a:ext>
            </a:extLst>
          </p:cNvPr>
          <p:cNvSpPr/>
          <p:nvPr/>
        </p:nvSpPr>
        <p:spPr>
          <a:xfrm>
            <a:off x="541891" y="1539006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977973"/>
              </p:ext>
            </p:extLst>
          </p:nvPr>
        </p:nvGraphicFramePr>
        <p:xfrm>
          <a:off x="524528" y="2832100"/>
          <a:ext cx="11218265" cy="3556000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9477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2324100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15302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2246368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38281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사전 기획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아이디어 선정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수집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협약기업 데이터 협조</a:t>
                      </a:r>
                      <a:endParaRPr lang="en-US" altLang="ko-KR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데이터 전처리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모델링</a:t>
                      </a:r>
                      <a:endParaRPr lang="ko-KR" altLang="en-US" sz="1200" b="1" kern="12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팀별 중간보고 실시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서비스 구축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최적화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오류 수정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52886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월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 ~ O/O(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금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)(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총 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7</a:t>
                      </a:r>
                      <a:r>
                        <a:rPr lang="ko-KR" altLang="en-US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200" b="1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74111" y="3307757"/>
            <a:ext cx="2474844" cy="326913"/>
            <a:chOff x="4574111" y="3307757"/>
            <a:chExt cx="2474844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74844" cy="326913"/>
              <a:chOff x="4665551" y="3307757"/>
              <a:chExt cx="2474844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프로젝트 기획 및 주제 선정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3307757"/>
            <a:ext cx="1446165" cy="326913"/>
            <a:chOff x="7383737" y="3307757"/>
            <a:chExt cx="1446165" cy="32691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57"/>
              <a:ext cx="1446165" cy="326913"/>
              <a:chOff x="4665551" y="3307757"/>
              <a:chExt cx="1446165" cy="32691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446165" cy="326913"/>
                <a:chOff x="4665552" y="3307757"/>
                <a:chExt cx="1548052" cy="358635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기획안 작성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74111" y="3841157"/>
            <a:ext cx="2474845" cy="494096"/>
            <a:chOff x="4574111" y="3841157"/>
            <a:chExt cx="2474845" cy="494096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1" y="3841157"/>
              <a:ext cx="2474845" cy="494096"/>
              <a:chOff x="4665551" y="3307757"/>
              <a:chExt cx="2474845" cy="494096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필요 데이터  및 수집 절차 정의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7383738" y="3841157"/>
            <a:ext cx="1716293" cy="326913"/>
            <a:chOff x="7383738" y="3841157"/>
            <a:chExt cx="1716293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83738" y="3841157"/>
              <a:ext cx="1716293" cy="326913"/>
              <a:chOff x="4665552" y="3307757"/>
              <a:chExt cx="1716293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3"/>
                <a:chOff x="4665552" y="3307757"/>
                <a:chExt cx="1827181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363186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외부 </a:t>
                </a: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 수집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4574111" y="436979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데이터 정제 및 정규화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74111" y="4896844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모형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692785A-1488-81E8-8926-A91D1A214D4B}"/>
              </a:ext>
            </a:extLst>
          </p:cNvPr>
          <p:cNvGrpSpPr/>
          <p:nvPr/>
        </p:nvGrpSpPr>
        <p:grpSpPr>
          <a:xfrm>
            <a:off x="4574111" y="5427069"/>
            <a:ext cx="2474845" cy="326913"/>
            <a:chOff x="4574111" y="5427069"/>
            <a:chExt cx="2474845" cy="326913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A3DDF3FC-4E6B-2215-D355-EF844455C59D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2B9F5418-A583-2D10-0E17-270C2518FD59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85" name="사각형: 둥근 모서리 84">
                  <a:extLst>
                    <a:ext uri="{FF2B5EF4-FFF2-40B4-BE49-F238E27FC236}">
                      <a16:creationId xmlns:a16="http://schemas.microsoft.com/office/drawing/2014/main" id="{085CAA8B-560C-951E-7A12-FF6ED0E82B0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BA64813E-02E1-AB0E-776B-F41AF9BB336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36BC604-1341-255F-4D68-038320EDB4D1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서비스 시스템 설계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7" name="그래픽 116">
              <a:extLst>
                <a:ext uri="{FF2B5EF4-FFF2-40B4-BE49-F238E27FC236}">
                  <a16:creationId xmlns:a16="http://schemas.microsoft.com/office/drawing/2014/main" id="{01B09901-6B22-2819-F326-A2CC1AA6B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5C40BBE-095E-01FB-2528-6DF0EF1A33DB}"/>
              </a:ext>
            </a:extLst>
          </p:cNvPr>
          <p:cNvGrpSpPr/>
          <p:nvPr/>
        </p:nvGrpSpPr>
        <p:grpSpPr>
          <a:xfrm>
            <a:off x="7383738" y="5427069"/>
            <a:ext cx="1936899" cy="326914"/>
            <a:chOff x="7383738" y="5427069"/>
            <a:chExt cx="1936899" cy="326914"/>
          </a:xfrm>
        </p:grpSpPr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56131837-9B70-2254-3652-7A3BBC83141F}"/>
                </a:ext>
              </a:extLst>
            </p:cNvPr>
            <p:cNvGrpSpPr/>
            <p:nvPr/>
          </p:nvGrpSpPr>
          <p:grpSpPr>
            <a:xfrm>
              <a:off x="7383738" y="5427069"/>
              <a:ext cx="1936899" cy="326914"/>
              <a:chOff x="4665552" y="3307757"/>
              <a:chExt cx="1936899" cy="326914"/>
            </a:xfrm>
          </p:grpSpPr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FDB2CC05-7D07-CB94-1C11-AA6CA7F3F719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06923" cy="326914"/>
                <a:chOff x="4665552" y="3307756"/>
                <a:chExt cx="1827181" cy="358636"/>
              </a:xfrm>
            </p:grpSpPr>
            <p:sp>
              <p:nvSpPr>
                <p:cNvPr id="91" name="사각형: 둥근 모서리 90">
                  <a:extLst>
                    <a:ext uri="{FF2B5EF4-FFF2-40B4-BE49-F238E27FC236}">
                      <a16:creationId xmlns:a16="http://schemas.microsoft.com/office/drawing/2014/main" id="{CE4D7620-95B3-3AFE-FF16-14EA352FDE4C}"/>
                    </a:ext>
                  </a:extLst>
                </p:cNvPr>
                <p:cNvSpPr/>
                <p:nvPr/>
              </p:nvSpPr>
              <p:spPr>
                <a:xfrm>
                  <a:off x="4665552" y="3307756"/>
                  <a:ext cx="1827181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D4AF9CA9-195E-A7C9-670D-7BCD3B05EC8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2AE65555-DE71-51FC-E0CD-0ACA6582EEE6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58379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b="1" dirty="0">
                    <a:ln>
                      <a:solidFill>
                        <a:schemeClr val="bg1">
                          <a:alpha val="0"/>
                        </a:schemeClr>
                      </a:solidFill>
                    </a:ln>
                    <a:solidFill>
                      <a:schemeClr val="bg2">
                        <a:lumMod val="25000"/>
                      </a:schemeClr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모바일 플랫폼 구현</a:t>
                </a:r>
                <a:endParaRPr lang="en-US" altLang="ko-KR" sz="1200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18" name="그래픽 117">
              <a:extLst>
                <a:ext uri="{FF2B5EF4-FFF2-40B4-BE49-F238E27FC236}">
                  <a16:creationId xmlns:a16="http://schemas.microsoft.com/office/drawing/2014/main" id="{D020AD65-5473-489B-22AE-45FCA857C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490054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학습 데이터 소개 </a:t>
              </a: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(Train/dev set)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①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탐색적 분석 및 </a:t>
            </a:r>
            <a:r>
              <a:rPr lang="ko-KR" altLang="en-US" sz="1400" b="1" spc="-100" dirty="0" err="1">
                <a:solidFill>
                  <a:schemeClr val="accent1"/>
                </a:solidFill>
                <a:latin typeface="+mn-ea"/>
              </a:rPr>
              <a:t>전처리</a:t>
            </a:r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4320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646331"/>
            <a:chOff x="541891" y="1430219"/>
            <a:chExt cx="10526159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dirty="0">
                  <a:solidFill>
                    <a:schemeClr val="tx2">
                      <a:lumMod val="75000"/>
                    </a:schemeClr>
                  </a:solidFill>
                  <a:latin typeface="+mn-ea"/>
                </a:rPr>
                <a:t>LSTM(Long short-term memory)</a:t>
              </a:r>
            </a:p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②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개요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5" name="TextBox 1">
            <a:extLst>
              <a:ext uri="{FF2B5EF4-FFF2-40B4-BE49-F238E27FC236}">
                <a16:creationId xmlns:a16="http://schemas.microsoft.com/office/drawing/2014/main" id="{31AB7C40-6529-4100-A8D7-847A66DFB74A}"/>
              </a:ext>
            </a:extLst>
          </p:cNvPr>
          <p:cNvSpPr txBox="1"/>
          <p:nvPr/>
        </p:nvSpPr>
        <p:spPr>
          <a:xfrm>
            <a:off x="532824" y="2083385"/>
            <a:ext cx="11359819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피드백 루프를 순환하면서 주어진 입력에 관한 신경망 출력을 방지하기 위해 고안된 순환 신경망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(RNN: Recurrent Neural Network) </a:t>
            </a:r>
          </a:p>
        </p:txBody>
      </p:sp>
      <p:graphicFrame>
        <p:nvGraphicFramePr>
          <p:cNvPr id="26" name="다이어그램 25">
            <a:extLst>
              <a:ext uri="{FF2B5EF4-FFF2-40B4-BE49-F238E27FC236}">
                <a16:creationId xmlns:a16="http://schemas.microsoft.com/office/drawing/2014/main" id="{C91597F8-263D-44EE-B1F6-802F20468E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7794650"/>
              </p:ext>
            </p:extLst>
          </p:nvPr>
        </p:nvGraphicFramePr>
        <p:xfrm>
          <a:off x="2629468" y="2910825"/>
          <a:ext cx="6552728" cy="36319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366273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③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선정 및 분석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20" name="Picture 2" descr="https://i.imgur.com/NV7jQ0X.png">
            <a:extLst>
              <a:ext uri="{FF2B5EF4-FFF2-40B4-BE49-F238E27FC236}">
                <a16:creationId xmlns:a16="http://schemas.microsoft.com/office/drawing/2014/main" id="{40AE1313-B21E-4797-B580-D82F3ED95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746" y="3140968"/>
            <a:ext cx="4957365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7D8C36C1-AB7E-479F-9283-8BEEF5D1D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175" y="2527463"/>
            <a:ext cx="3888315" cy="3637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1">
            <a:extLst>
              <a:ext uri="{FF2B5EF4-FFF2-40B4-BE49-F238E27FC236}">
                <a16:creationId xmlns:a16="http://schemas.microsoft.com/office/drawing/2014/main" id="{003AD388-3AE0-46FA-BDB3-497A6FB3E7CB}"/>
              </a:ext>
            </a:extLst>
          </p:cNvPr>
          <p:cNvSpPr txBox="1"/>
          <p:nvPr/>
        </p:nvSpPr>
        <p:spPr>
          <a:xfrm>
            <a:off x="803412" y="2069208"/>
            <a:ext cx="3855655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2Layer LSTM :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문단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,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질문</a:t>
            </a:r>
            <a:endParaRPr lang="en-US" altLang="ko-KR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코사인 유사도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문서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</a:t>
            </a:r>
            <a:endParaRPr lang="ko-KR" altLang="en-US" sz="16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35324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b="1" spc="-100" dirty="0">
                  <a:solidFill>
                    <a:schemeClr val="bg2">
                      <a:lumMod val="25000"/>
                    </a:schemeClr>
                  </a:solidFill>
                  <a:latin typeface="+mn-ea"/>
                </a:rPr>
                <a:t>LSTM(Long short-term memory)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5035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④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모델 평가 및 개선</a:t>
            </a:r>
          </a:p>
          <a:p>
            <a:pPr algn="r"/>
            <a:endParaRPr lang="ko-KR" altLang="en-US" sz="1400" b="1" spc="-100" dirty="0">
              <a:solidFill>
                <a:schemeClr val="accent1"/>
              </a:solidFill>
              <a:latin typeface="+mn-ea"/>
            </a:endParaRP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23" name="Picture 2">
            <a:extLst>
              <a:ext uri="{FF2B5EF4-FFF2-40B4-BE49-F238E27FC236}">
                <a16:creationId xmlns:a16="http://schemas.microsoft.com/office/drawing/2014/main" id="{5648E92E-01A1-4DED-9BE0-D0642559F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0702" y="2660321"/>
            <a:ext cx="4723224" cy="3612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378A6B5B-C0C5-46AE-AAFE-210FADFD4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617" y="4120782"/>
            <a:ext cx="4723224" cy="181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Box 20">
            <a:extLst>
              <a:ext uri="{FF2B5EF4-FFF2-40B4-BE49-F238E27FC236}">
                <a16:creationId xmlns:a16="http://schemas.microsoft.com/office/drawing/2014/main" id="{248D3890-72E2-45B1-AACB-04DA448EE1C7}"/>
              </a:ext>
            </a:extLst>
          </p:cNvPr>
          <p:cNvSpPr txBox="1"/>
          <p:nvPr/>
        </p:nvSpPr>
        <p:spPr>
          <a:xfrm>
            <a:off x="908074" y="2158433"/>
            <a:ext cx="473566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5pPr>
            <a:lvl6pPr marL="22860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6pPr>
            <a:lvl7pPr marL="27432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7pPr>
            <a:lvl8pPr marL="32004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8pPr>
            <a:lvl9pPr marL="3657600" algn="l" defTabSz="914400" rtl="0" eaLnBrk="1" latinLnBrk="1" hangingPunct="1">
              <a:defRPr kern="1200">
                <a:solidFill>
                  <a:schemeClr val="tx1"/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3Layer LSTM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으로 변경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ko-KR" altLang="en-US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옵티마이저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조정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: Adam -&gt;‘</a:t>
            </a:r>
            <a:r>
              <a:rPr lang="en-US" altLang="ko-KR" sz="16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rmsprop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’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로 변경</a:t>
            </a: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        &gt;&gt; </a:t>
            </a:r>
            <a:r>
              <a:rPr lang="ko-KR" altLang="en-US" sz="16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학습속도 및 유사도 개선</a:t>
            </a:r>
          </a:p>
        </p:txBody>
      </p:sp>
    </p:spTree>
    <p:extLst>
      <p:ext uri="{BB962C8B-B14F-4D97-AF65-F5344CB8AC3E}">
        <p14:creationId xmlns:p14="http://schemas.microsoft.com/office/powerpoint/2010/main" val="1323732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훈련생 발표 영상이 아닌 세부 기능 소개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화면 구동 및 기능 동작 여부 시연영상으로 제작한다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결과 제시 ⑤</a:t>
            </a:r>
            <a:r>
              <a:rPr lang="en-US" altLang="ko-KR" sz="1400" b="1" spc="-1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1400" b="1" spc="-100" dirty="0">
                <a:solidFill>
                  <a:schemeClr val="accent1"/>
                </a:solidFill>
                <a:latin typeface="+mn-ea"/>
              </a:rPr>
              <a:t>시연 동영상</a:t>
            </a:r>
          </a:p>
          <a:p>
            <a:pPr algn="r"/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1235350-DA32-4D3D-AF98-B200A140AAA8}"/>
              </a:ext>
            </a:extLst>
          </p:cNvPr>
          <p:cNvSpPr txBox="1"/>
          <p:nvPr/>
        </p:nvSpPr>
        <p:spPr>
          <a:xfrm>
            <a:off x="551447" y="6370868"/>
            <a:ext cx="89649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기능별 소개 음성 포함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파일형태로 제출 가능</a:t>
            </a:r>
          </a:p>
        </p:txBody>
      </p: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316AC48-FB9E-B12B-E3BC-DC5404211B32}"/>
              </a:ext>
            </a:extLst>
          </p:cNvPr>
          <p:cNvGrpSpPr/>
          <p:nvPr/>
        </p:nvGrpSpPr>
        <p:grpSpPr>
          <a:xfrm>
            <a:off x="541891" y="1430219"/>
            <a:ext cx="11108218" cy="646331"/>
            <a:chOff x="541891" y="1430219"/>
            <a:chExt cx="11108218" cy="64633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9064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프로젝트 결과물에 대한 프로젝트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기획 의도와의 부합 정도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및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실무 활용 가능 정도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달성도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,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완성도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 등</a:t>
              </a:r>
              <a:b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훈련생의 자체적인 평가 의견과 느낀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점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을 작성한다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</a:rPr>
                <a:t>.</a:t>
              </a: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758026" y="2900049"/>
              <a:ext cx="5051965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사전 기획의 관점에서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프로젝트 결과물에 대한 완성도 평가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(10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점 만점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5019135"/>
              <a:ext cx="4622911" cy="7243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 결과물의 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  <a:p>
              <a:pPr algn="ctr">
                <a:lnSpc>
                  <a:spcPct val="120000"/>
                </a:lnSpc>
                <a:defRPr/>
              </a:pP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추후 개선점이나 보완할 점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+mj-ea"/>
                  <a:ea typeface="+mj-ea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5019135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</a:b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느낀 점이나</a:t>
              </a:r>
              <a:r>
                <a:rPr lang="en-US" altLang="ko-KR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+mj-ea"/>
                  <a:ea typeface="+mj-ea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636060" y="2900049"/>
              <a:ext cx="4995645" cy="371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개인 또는 우리 팀이 </a:t>
              </a:r>
              <a:r>
                <a:rPr lang="ko-KR" altLang="en-US" b="1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+mj-ea"/>
                  <a:ea typeface="+mj-ea"/>
                </a:rPr>
                <a:t>잘한 부분과 아쉬운 점</a:t>
              </a:r>
              <a:endParaRPr lang="en-US" altLang="ko-KR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+mj-ea"/>
                <a:ea typeface="+mj-ea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6" y="3457087"/>
              <a:ext cx="31822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모델 평가 결과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,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정확도가 </a:t>
              </a:r>
              <a: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00.00%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</a:t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정확도 향상을 위해 모델 추후 개선 필요</a:t>
              </a:r>
              <a:endPara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AD969652-523C-023E-663E-3084DFB93342}"/>
                </a:ext>
              </a:extLst>
            </p:cNvPr>
            <p:cNvSpPr/>
            <p:nvPr/>
          </p:nvSpPr>
          <p:spPr>
            <a:xfrm>
              <a:off x="7543801" y="3476532"/>
              <a:ext cx="230456" cy="230456"/>
            </a:xfrm>
            <a:prstGeom prst="ellipse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예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633</Words>
  <Application>Microsoft Office PowerPoint</Application>
  <PresentationFormat>와이드스크린</PresentationFormat>
  <Paragraphs>148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20" baseType="lpstr">
      <vt:lpstr>Pretendard SemiBold</vt:lpstr>
      <vt:lpstr>맑은 고딕</vt:lpstr>
      <vt:lpstr>맑은 고딕</vt:lpstr>
      <vt:lpstr>맑은 고딕 Semilight</vt:lpstr>
      <vt:lpstr>세방고딕 Bold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HKIT</cp:lastModifiedBy>
  <cp:revision>22</cp:revision>
  <dcterms:created xsi:type="dcterms:W3CDTF">2023-12-20T03:00:25Z</dcterms:created>
  <dcterms:modified xsi:type="dcterms:W3CDTF">2025-12-22T08:29:31Z</dcterms:modified>
</cp:coreProperties>
</file>